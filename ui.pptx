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EEF5"/>
    <a:srgbClr val="3979C5"/>
    <a:srgbClr val="EEECF5"/>
    <a:srgbClr val="FBF8FB"/>
    <a:srgbClr val="E9EAF6"/>
    <a:srgbClr val="F2EFF8"/>
    <a:srgbClr val="FBF8FD"/>
    <a:srgbClr val="FBF8FE"/>
    <a:srgbClr val="FBF8F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57" autoAdjust="0"/>
    <p:restoredTop sz="94602"/>
  </p:normalViewPr>
  <p:slideViewPr>
    <p:cSldViewPr snapToGrid="0">
      <p:cViewPr varScale="1">
        <p:scale>
          <a:sx n="83" d="100"/>
          <a:sy n="83" d="100"/>
        </p:scale>
        <p:origin x="51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5C60E-A043-C9A4-260B-F0236B59B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5CB1FA-CE4C-C92B-090B-3F2686241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FCC0B-8471-69EF-DCBB-C9EEFCDF6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3FBEA-B4E8-41F4-8A67-1054E6974DA9}" type="datetimeFigureOut">
              <a:rPr lang="en-SG" smtClean="0"/>
              <a:t>10/3/2026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42627-CD01-E15B-726A-DD9102606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9D63D-388D-7DD2-F41E-FF79C672F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C2BC2-69EA-4194-B4C5-9F19906854D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56678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D8823-CB05-81B2-2DFB-CDEC2122D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AB409-90E1-CC8D-6836-02707E9A2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17574-A3F6-6A67-9357-9E08BDF6B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3FBEA-B4E8-41F4-8A67-1054E6974DA9}" type="datetimeFigureOut">
              <a:rPr lang="en-SG" smtClean="0"/>
              <a:t>10/3/2026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8F63F-0D76-A353-F3CC-4490ED5B9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745BF-129C-1463-76AA-38BA9D086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C2BC2-69EA-4194-B4C5-9F19906854D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88749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3DC70-CCBF-BB6D-E17D-60E9B7DB2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44C0D9-3EF0-63B3-18A5-466ADC0C2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146F3-2AAD-252E-9FF0-104B99F1E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3FBEA-B4E8-41F4-8A67-1054E6974DA9}" type="datetimeFigureOut">
              <a:rPr lang="en-SG" smtClean="0"/>
              <a:t>10/3/2026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7E432-EE0E-065B-2938-C467AF249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6119E-2B74-5968-28DA-7E8208F04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C2BC2-69EA-4194-B4C5-9F19906854D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65601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300CA-99B6-69B2-946B-D8EB6CAED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3619C-5EED-BA65-C136-45C3E4890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77A4FF-7FB1-BCB2-84AC-F31E8C4CF7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7E0A2D-D115-ACDB-46CD-3C4DAF245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3FBEA-B4E8-41F4-8A67-1054E6974DA9}" type="datetimeFigureOut">
              <a:rPr lang="en-SG" smtClean="0"/>
              <a:t>10/3/2026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CD41B0-5424-666F-7A38-0EC15F70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DA7ECC-14F5-A09A-9008-3D17FD09B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C2BC2-69EA-4194-B4C5-9F19906854D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22848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C06BF-186E-88A4-E4D1-DF1D62704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B2B20-8442-24B3-9515-8EEF0EB1C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E2492-3869-89B9-CA90-F163F5A5C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C6E527-A2C8-B040-FB2B-B3D2096431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7DAC66-0AB4-4124-19AF-506F2CCF01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3C07DE-D81B-748A-70A8-EC75585EF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3FBEA-B4E8-41F4-8A67-1054E6974DA9}" type="datetimeFigureOut">
              <a:rPr lang="en-SG" smtClean="0"/>
              <a:t>10/3/2026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0DC225-2BE9-1414-EF12-9BEA77C5B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59AB9C-8F8D-3419-C7CA-A82ACA879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C2BC2-69EA-4194-B4C5-9F19906854D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57962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37FD7-2A54-6FB9-5986-96A097ED0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B9D2BD-FA9E-17D1-B2A9-E480122D8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3FBEA-B4E8-41F4-8A67-1054E6974DA9}" type="datetimeFigureOut">
              <a:rPr lang="en-SG" smtClean="0"/>
              <a:t>10/3/2026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DB6E2-AF16-5FED-B6EF-6956CFF36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97B20B-EE0F-2150-985C-A560F731B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C2BC2-69EA-4194-B4C5-9F19906854D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01220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87E678-6C54-8FD2-7EC0-EC3BBB02D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3FBEA-B4E8-41F4-8A67-1054E6974DA9}" type="datetimeFigureOut">
              <a:rPr lang="en-SG" smtClean="0"/>
              <a:t>10/3/2026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A554A7-4151-CCCB-2C45-8EAC24064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D8F8B-40FA-E78E-A712-BF7DF2B1F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C2BC2-69EA-4194-B4C5-9F19906854D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04820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61998-DCE0-02B7-CAC4-AA702AF29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C46AF-4C40-8911-970E-6259585CC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BCFE8-2F92-2A8B-C98D-3D63ABDEFE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9CF39C-4833-93B3-A88B-ED6FA2DFC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3FBEA-B4E8-41F4-8A67-1054E6974DA9}" type="datetimeFigureOut">
              <a:rPr lang="en-SG" smtClean="0"/>
              <a:t>10/3/2026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681FD-FCBF-28D7-C602-B05A3C3BD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E2A64-4DB3-0448-2D30-6993F827C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C2BC2-69EA-4194-B4C5-9F19906854D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48729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5A34A-4528-57FA-4D3A-3625DF91D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C39BD-B88F-E3A7-863E-74D279A35F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0368E6-8A1C-3BBA-FD92-F32CE89EE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6EBFB-6243-D1AB-F4BA-B4DB8C118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3FBEA-B4E8-41F4-8A67-1054E6974DA9}" type="datetimeFigureOut">
              <a:rPr lang="en-SG" smtClean="0"/>
              <a:t>10/3/2026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30A51-FB5E-E6F0-AB25-A857E2856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8B88D8-31BE-8B23-6A62-D6C9FBB0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C2BC2-69EA-4194-B4C5-9F19906854D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50435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FAF02-5EAB-2D41-8937-82FEEBFB5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E771E5-68AF-CCDD-1BE1-FC41C63D30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BB7CB-F384-0D6C-8545-4375A7451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3FBEA-B4E8-41F4-8A67-1054E6974DA9}" type="datetimeFigureOut">
              <a:rPr lang="en-SG" smtClean="0"/>
              <a:t>10/3/2026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35E74-ED86-D561-B64A-75A8E7E7E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3514C-B8E8-A54E-BAAF-481CF2E3E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C2BC2-69EA-4194-B4C5-9F19906854D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03955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6D161C-233D-9BC2-279D-690F9FBD34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0C6E1B-00E9-8F31-F85B-4F8AF23505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62E79-FBDD-40DF-E6D1-77198A70A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3FBEA-B4E8-41F4-8A67-1054E6974DA9}" type="datetimeFigureOut">
              <a:rPr lang="en-SG" smtClean="0"/>
              <a:t>10/3/2026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67F15-7934-F312-FBCF-CAC911B2B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69BF8-AFF9-77B0-0A9E-5470E362B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C2BC2-69EA-4194-B4C5-9F19906854D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75669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983C04-41D0-2A59-9725-F14B8AE35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432FF-1B03-B7DA-5A90-2825D7DFE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E4A76-10C7-CF10-60A8-AD63996588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63FBEA-B4E8-41F4-8A67-1054E6974DA9}" type="datetimeFigureOut">
              <a:rPr lang="en-SG" smtClean="0"/>
              <a:t>10/3/2026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AD8D4-8D20-CC4C-F68B-D386AA000D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FEFA6-1A13-AE85-E07C-8047AD06C7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C2BC2-69EA-4194-B4C5-9F19906854D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62916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F566D-6B7E-53AE-7F32-A8899B97F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3BE7AD8-C17C-652F-4D14-2F6410D61768}"/>
              </a:ext>
            </a:extLst>
          </p:cNvPr>
          <p:cNvSpPr/>
          <p:nvPr/>
        </p:nvSpPr>
        <p:spPr>
          <a:xfrm>
            <a:off x="2443942" y="59062"/>
            <a:ext cx="4746567" cy="4246931"/>
          </a:xfrm>
          <a:prstGeom prst="rect">
            <a:avLst/>
          </a:prstGeom>
          <a:solidFill>
            <a:srgbClr val="FBF8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solidFill>
                  <a:schemeClr val="tx1"/>
                </a:solidFill>
              </a:rPr>
              <a:t>Home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680A755D-5626-F5DC-0061-FA725CDCF396}"/>
              </a:ext>
            </a:extLst>
          </p:cNvPr>
          <p:cNvSpPr/>
          <p:nvPr/>
        </p:nvSpPr>
        <p:spPr>
          <a:xfrm>
            <a:off x="2532759" y="340127"/>
            <a:ext cx="4576845" cy="3882738"/>
          </a:xfrm>
          <a:prstGeom prst="roundRect">
            <a:avLst>
              <a:gd name="adj" fmla="val 1774"/>
            </a:avLst>
          </a:prstGeom>
          <a:solidFill>
            <a:srgbClr val="E9EA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50" b="1" u="sng" dirty="0">
              <a:solidFill>
                <a:schemeClr val="tx1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8A1D875-7ED1-653C-CE6C-4BF3138D6A8E}"/>
              </a:ext>
            </a:extLst>
          </p:cNvPr>
          <p:cNvSpPr/>
          <p:nvPr/>
        </p:nvSpPr>
        <p:spPr>
          <a:xfrm>
            <a:off x="2678175" y="425793"/>
            <a:ext cx="4286014" cy="499929"/>
          </a:xfrm>
          <a:prstGeom prst="roundRect">
            <a:avLst>
              <a:gd name="adj" fmla="val 87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>
                <a:solidFill>
                  <a:schemeClr val="tx1"/>
                </a:solidFill>
              </a:rPr>
              <a:t>Welcome! </a:t>
            </a:r>
          </a:p>
          <a:p>
            <a:r>
              <a:rPr lang="en-US" sz="600" dirty="0">
                <a:solidFill>
                  <a:schemeClr val="tx1"/>
                </a:solidFill>
              </a:rPr>
              <a:t>This dashboard explores Singapore declining fertility trends, Thus will present how key demographic indicator – such as marriages and divorces  are related to fertility ,  Use the options below or the tabs to navigator through the page. 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6C50E28-83E2-0271-C998-20C90DC6464A}"/>
              </a:ext>
            </a:extLst>
          </p:cNvPr>
          <p:cNvSpPr/>
          <p:nvPr/>
        </p:nvSpPr>
        <p:spPr>
          <a:xfrm>
            <a:off x="2532759" y="133430"/>
            <a:ext cx="4576845" cy="12934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50" b="1" u="sng" dirty="0">
                <a:solidFill>
                  <a:schemeClr val="bg1"/>
                </a:solidFill>
              </a:rPr>
              <a:t>Singapore Fertility Trends Dashboard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DF4AA70-BE4C-24C2-3738-467A32184402}"/>
              </a:ext>
            </a:extLst>
          </p:cNvPr>
          <p:cNvSpPr/>
          <p:nvPr/>
        </p:nvSpPr>
        <p:spPr>
          <a:xfrm>
            <a:off x="2678175" y="1250518"/>
            <a:ext cx="4286014" cy="680338"/>
          </a:xfrm>
          <a:prstGeom prst="roundRect">
            <a:avLst>
              <a:gd name="adj" fmla="val 8745"/>
            </a:avLst>
          </a:prstGeom>
          <a:solidFill>
            <a:srgbClr val="FBF8FB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600" b="1" u="sng" dirty="0">
              <a:solidFill>
                <a:schemeClr val="tx1"/>
              </a:solidFill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06D3C38-55EC-DE94-7E18-D25D743ED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56" y="1380322"/>
            <a:ext cx="994337" cy="423500"/>
          </a:xfrm>
          <a:prstGeom prst="rect">
            <a:avLst/>
          </a:prstGeom>
          <a:ln>
            <a:noFill/>
          </a:ln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6EF628F-4978-F7AC-C239-2E0FEE647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914" y="1380322"/>
            <a:ext cx="1084754" cy="423500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0E254F1-6179-F72C-CB4D-0400A8313E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3198" y="1380322"/>
            <a:ext cx="994337" cy="423500"/>
          </a:xfrm>
          <a:prstGeom prst="rect">
            <a:avLst/>
          </a:prstGeom>
          <a:ln>
            <a:noFill/>
          </a:ln>
        </p:spPr>
      </p:pic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D021ABE0-5978-4FAC-24CF-F1C42F564F8F}"/>
              </a:ext>
            </a:extLst>
          </p:cNvPr>
          <p:cNvSpPr/>
          <p:nvPr/>
        </p:nvSpPr>
        <p:spPr>
          <a:xfrm>
            <a:off x="2674217" y="1116409"/>
            <a:ext cx="4286014" cy="192329"/>
          </a:xfrm>
          <a:prstGeom prst="roundRect">
            <a:avLst>
              <a:gd name="adj" fmla="val 8745"/>
            </a:avLst>
          </a:prstGeom>
          <a:solidFill>
            <a:srgbClr val="EEECF5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dirty="0">
                <a:solidFill>
                  <a:schemeClr val="tx1"/>
                </a:solidFill>
              </a:rPr>
              <a:t>At a Glance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6169A15C-DDCB-9571-DF1F-C28E35AF7CD6}"/>
              </a:ext>
            </a:extLst>
          </p:cNvPr>
          <p:cNvSpPr/>
          <p:nvPr/>
        </p:nvSpPr>
        <p:spPr>
          <a:xfrm>
            <a:off x="2674216" y="2111499"/>
            <a:ext cx="1292511" cy="956580"/>
          </a:xfrm>
          <a:prstGeom prst="roundRect">
            <a:avLst>
              <a:gd name="adj" fmla="val 8745"/>
            </a:avLst>
          </a:prstGeom>
          <a:solidFill>
            <a:srgbClr val="FBF8FB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700" b="1" u="sng" dirty="0">
                <a:solidFill>
                  <a:schemeClr val="tx1"/>
                </a:solidFill>
              </a:rPr>
              <a:t>Trends &amp; EDA</a:t>
            </a:r>
            <a:endParaRPr lang="en-US" sz="500" b="1" u="sng" dirty="0">
              <a:solidFill>
                <a:schemeClr val="tx1"/>
              </a:solidFill>
            </a:endParaRP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E1563E12-F4C4-34BE-DB82-E876DFDDC7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0072" y="2389091"/>
            <a:ext cx="278479" cy="297378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CC859CC0-9F60-1CE3-F94F-BDCDA6785172}"/>
              </a:ext>
            </a:extLst>
          </p:cNvPr>
          <p:cNvSpPr txBox="1"/>
          <p:nvPr/>
        </p:nvSpPr>
        <p:spPr>
          <a:xfrm>
            <a:off x="2644516" y="2689920"/>
            <a:ext cx="11624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dirty="0"/>
              <a:t>Explore long-run trends in fertility, marriage and divorce </a:t>
            </a:r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5D9CD41-7040-BF4A-A3C0-C9F8BF88A929}"/>
              </a:ext>
            </a:extLst>
          </p:cNvPr>
          <p:cNvSpPr/>
          <p:nvPr/>
        </p:nvSpPr>
        <p:spPr>
          <a:xfrm>
            <a:off x="3245633" y="2458787"/>
            <a:ext cx="576813" cy="159549"/>
          </a:xfrm>
          <a:prstGeom prst="roundRect">
            <a:avLst/>
          </a:prstGeom>
          <a:solidFill>
            <a:srgbClr val="3979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chemeClr val="bg1"/>
                </a:solidFill>
              </a:rPr>
              <a:t>Explore -&gt;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5B6ABA0E-5BD1-D65C-8031-F665B0825707}"/>
              </a:ext>
            </a:extLst>
          </p:cNvPr>
          <p:cNvSpPr/>
          <p:nvPr/>
        </p:nvSpPr>
        <p:spPr>
          <a:xfrm>
            <a:off x="4170968" y="2132097"/>
            <a:ext cx="1292511" cy="956580"/>
          </a:xfrm>
          <a:prstGeom prst="roundRect">
            <a:avLst>
              <a:gd name="adj" fmla="val 8745"/>
            </a:avLst>
          </a:prstGeom>
          <a:solidFill>
            <a:srgbClr val="FBF8FB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700" b="1" u="sng" dirty="0">
                <a:solidFill>
                  <a:schemeClr val="tx1"/>
                </a:solidFill>
              </a:rPr>
              <a:t>Correlation Analysis</a:t>
            </a:r>
            <a:endParaRPr lang="en-US" sz="500" b="1" u="sng" dirty="0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37D67E2-2E60-0F98-0C0C-19FD041A6BF2}"/>
              </a:ext>
            </a:extLst>
          </p:cNvPr>
          <p:cNvSpPr txBox="1"/>
          <p:nvPr/>
        </p:nvSpPr>
        <p:spPr>
          <a:xfrm>
            <a:off x="4235986" y="2743998"/>
            <a:ext cx="11624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dirty="0"/>
              <a:t>Correlation, association analysis and clustering</a:t>
            </a:r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99399B10-C2C2-CFFD-A59D-97B9E8011414}"/>
              </a:ext>
            </a:extLst>
          </p:cNvPr>
          <p:cNvSpPr/>
          <p:nvPr/>
        </p:nvSpPr>
        <p:spPr>
          <a:xfrm>
            <a:off x="4769081" y="2490372"/>
            <a:ext cx="576813" cy="159549"/>
          </a:xfrm>
          <a:prstGeom prst="roundRect">
            <a:avLst/>
          </a:prstGeom>
          <a:solidFill>
            <a:srgbClr val="3979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chemeClr val="bg1"/>
                </a:solidFill>
              </a:rPr>
              <a:t>Explore -&gt;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4ECB0090-045F-29B5-4861-754B60A59C47}"/>
              </a:ext>
            </a:extLst>
          </p:cNvPr>
          <p:cNvSpPr/>
          <p:nvPr/>
        </p:nvSpPr>
        <p:spPr>
          <a:xfrm>
            <a:off x="5645293" y="2128207"/>
            <a:ext cx="1292511" cy="956580"/>
          </a:xfrm>
          <a:prstGeom prst="roundRect">
            <a:avLst>
              <a:gd name="adj" fmla="val 8745"/>
            </a:avLst>
          </a:prstGeom>
          <a:solidFill>
            <a:srgbClr val="FBF8FB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700" b="1" u="sng" dirty="0">
                <a:solidFill>
                  <a:schemeClr val="tx1"/>
                </a:solidFill>
              </a:rPr>
              <a:t>Regression Analysis</a:t>
            </a:r>
            <a:endParaRPr lang="en-US" sz="500" b="1" u="sng" dirty="0">
              <a:solidFill>
                <a:schemeClr val="tx1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18C7953-A3B2-289A-9A3C-8EC6092BC404}"/>
              </a:ext>
            </a:extLst>
          </p:cNvPr>
          <p:cNvSpPr txBox="1"/>
          <p:nvPr/>
        </p:nvSpPr>
        <p:spPr>
          <a:xfrm>
            <a:off x="5728900" y="2736410"/>
            <a:ext cx="11624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dirty="0"/>
              <a:t>Model fertility, marriage and divorce indicators </a:t>
            </a:r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1A1ADC15-AF1B-A40E-A896-ECF3D642140C}"/>
              </a:ext>
            </a:extLst>
          </p:cNvPr>
          <p:cNvSpPr/>
          <p:nvPr/>
        </p:nvSpPr>
        <p:spPr>
          <a:xfrm>
            <a:off x="6260676" y="2492876"/>
            <a:ext cx="576813" cy="159549"/>
          </a:xfrm>
          <a:prstGeom prst="roundRect">
            <a:avLst/>
          </a:prstGeom>
          <a:solidFill>
            <a:srgbClr val="3979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chemeClr val="bg1"/>
                </a:solidFill>
              </a:rPr>
              <a:t>Explore -&gt;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8A16A8D2-9AA3-2FEA-5790-DA4AABE82E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4363" y="2406350"/>
            <a:ext cx="342904" cy="342904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3F5B033E-18E7-8FC7-A4A1-F2DB550CFB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0694" y="2413634"/>
            <a:ext cx="362655" cy="362655"/>
          </a:xfrm>
          <a:prstGeom prst="rect">
            <a:avLst/>
          </a:prstGeom>
        </p:spPr>
      </p:pic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4C9F4B1F-7223-1ABE-4772-DA79B9E1C11A}"/>
              </a:ext>
            </a:extLst>
          </p:cNvPr>
          <p:cNvSpPr/>
          <p:nvPr/>
        </p:nvSpPr>
        <p:spPr>
          <a:xfrm>
            <a:off x="2674217" y="3435965"/>
            <a:ext cx="4286014" cy="680338"/>
          </a:xfrm>
          <a:prstGeom prst="roundRect">
            <a:avLst>
              <a:gd name="adj" fmla="val 8745"/>
            </a:avLst>
          </a:prstGeom>
          <a:solidFill>
            <a:srgbClr val="FBF8FB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dirty="0">
                <a:solidFill>
                  <a:schemeClr val="tx1"/>
                </a:solidFill>
              </a:rPr>
              <a:t>Home Page </a:t>
            </a:r>
          </a:p>
          <a:p>
            <a:endParaRPr lang="en-US" sz="800" b="1" dirty="0">
              <a:solidFill>
                <a:schemeClr val="tx1"/>
              </a:solidFill>
            </a:endParaRPr>
          </a:p>
          <a:p>
            <a:r>
              <a:rPr lang="en-US" sz="600" dirty="0">
                <a:solidFill>
                  <a:schemeClr val="tx1"/>
                </a:solidFill>
              </a:rPr>
              <a:t>This home page presents the key demographic indicators, highlights the latest fertility level, and shows the overall trend in Singapore’s total fertility rate. </a:t>
            </a:r>
            <a:endParaRPr lang="en-US" sz="600" b="1" u="sng" dirty="0">
              <a:solidFill>
                <a:schemeClr val="tx1"/>
              </a:solidFill>
            </a:endParaRP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C436EC9A-3005-8056-F070-5745DBE85A4F}"/>
              </a:ext>
            </a:extLst>
          </p:cNvPr>
          <p:cNvSpPr/>
          <p:nvPr/>
        </p:nvSpPr>
        <p:spPr>
          <a:xfrm>
            <a:off x="2674216" y="3178864"/>
            <a:ext cx="4286014" cy="266251"/>
          </a:xfrm>
          <a:prstGeom prst="roundRect">
            <a:avLst>
              <a:gd name="adj" fmla="val 8745"/>
            </a:avLst>
          </a:prstGeom>
          <a:solidFill>
            <a:srgbClr val="EEECF5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41C8273D-6480-8655-97C4-5A4DED1C6F30}"/>
              </a:ext>
            </a:extLst>
          </p:cNvPr>
          <p:cNvSpPr/>
          <p:nvPr/>
        </p:nvSpPr>
        <p:spPr>
          <a:xfrm>
            <a:off x="2762171" y="3200730"/>
            <a:ext cx="612759" cy="20817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u="sng" dirty="0">
                <a:solidFill>
                  <a:schemeClr val="tx1"/>
                </a:solidFill>
              </a:rPr>
              <a:t>Home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2EFE9B6A-4F2A-C4E3-BDD2-52748369897D}"/>
              </a:ext>
            </a:extLst>
          </p:cNvPr>
          <p:cNvSpPr/>
          <p:nvPr/>
        </p:nvSpPr>
        <p:spPr>
          <a:xfrm>
            <a:off x="3388051" y="3197376"/>
            <a:ext cx="612759" cy="208177"/>
          </a:xfrm>
          <a:prstGeom prst="roundRect">
            <a:avLst/>
          </a:prstGeom>
          <a:solidFill>
            <a:srgbClr val="3979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chemeClr val="bg1"/>
                </a:solidFill>
              </a:rPr>
              <a:t>Trend &amp; EDA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FF07E8C8-2F03-4CE0-51CF-BA1F217A280B}"/>
              </a:ext>
            </a:extLst>
          </p:cNvPr>
          <p:cNvSpPr/>
          <p:nvPr/>
        </p:nvSpPr>
        <p:spPr>
          <a:xfrm>
            <a:off x="4013931" y="3197375"/>
            <a:ext cx="612759" cy="208177"/>
          </a:xfrm>
          <a:prstGeom prst="roundRect">
            <a:avLst/>
          </a:prstGeom>
          <a:solidFill>
            <a:srgbClr val="3979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chemeClr val="bg1"/>
                </a:solidFill>
              </a:rPr>
              <a:t>Correlation Analysis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A3735F85-2262-5109-7709-9AC726C66DFA}"/>
              </a:ext>
            </a:extLst>
          </p:cNvPr>
          <p:cNvSpPr/>
          <p:nvPr/>
        </p:nvSpPr>
        <p:spPr>
          <a:xfrm>
            <a:off x="4639811" y="3197671"/>
            <a:ext cx="612759" cy="208177"/>
          </a:xfrm>
          <a:prstGeom prst="roundRect">
            <a:avLst/>
          </a:prstGeom>
          <a:solidFill>
            <a:srgbClr val="3979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chemeClr val="bg1"/>
                </a:solidFill>
              </a:rPr>
              <a:t>Regression Analysis</a:t>
            </a:r>
          </a:p>
        </p:txBody>
      </p:sp>
    </p:spTree>
    <p:extLst>
      <p:ext uri="{BB962C8B-B14F-4D97-AF65-F5344CB8AC3E}">
        <p14:creationId xmlns:p14="http://schemas.microsoft.com/office/powerpoint/2010/main" val="4277028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F566D-6B7E-53AE-7F32-A8899B97F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2BF3C7-9F70-D3E6-AD34-5DBCDA199E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34"/>
          <a:stretch>
            <a:fillRect/>
          </a:stretch>
        </p:blipFill>
        <p:spPr>
          <a:xfrm>
            <a:off x="2498784" y="130700"/>
            <a:ext cx="4655389" cy="65965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E89E00-F939-4760-8605-0E43D24F239E}"/>
              </a:ext>
            </a:extLst>
          </p:cNvPr>
          <p:cNvSpPr txBox="1"/>
          <p:nvPr/>
        </p:nvSpPr>
        <p:spPr>
          <a:xfrm>
            <a:off x="2772443" y="809637"/>
            <a:ext cx="1287724" cy="338554"/>
          </a:xfrm>
          <a:prstGeom prst="rect">
            <a:avLst/>
          </a:prstGeom>
          <a:solidFill>
            <a:srgbClr val="FCFAFC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800" b="1" dirty="0"/>
              <a:t>Use slider to let user filter (</a:t>
            </a:r>
            <a:r>
              <a:rPr lang="en-US" sz="800" b="1" dirty="0" err="1"/>
              <a:t>sliderInput</a:t>
            </a:r>
            <a:r>
              <a:rPr lang="en-US" sz="800" b="1" dirty="0"/>
              <a:t>())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2EEDDD-97C5-D3CA-1008-A3E35D8FC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2443" y="1156817"/>
            <a:ext cx="1040758" cy="17740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2E2E70F-A835-1251-AC1F-A7F9D5B92587}"/>
              </a:ext>
            </a:extLst>
          </p:cNvPr>
          <p:cNvSpPr txBox="1"/>
          <p:nvPr/>
        </p:nvSpPr>
        <p:spPr>
          <a:xfrm>
            <a:off x="2772443" y="1388546"/>
            <a:ext cx="1286679" cy="438582"/>
          </a:xfrm>
          <a:prstGeom prst="rect">
            <a:avLst/>
          </a:prstGeom>
          <a:solidFill>
            <a:srgbClr val="FCFAFC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750" b="1" dirty="0"/>
              <a:t>Use radio buttons to let users filter between age bands (</a:t>
            </a:r>
            <a:r>
              <a:rPr lang="en-US" sz="750" b="1" dirty="0" err="1"/>
              <a:t>radioButtons</a:t>
            </a:r>
            <a:r>
              <a:rPr lang="en-US" sz="750" b="1" dirty="0"/>
              <a:t>())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E5105A-3C9E-500E-5260-DCC8A8165665}"/>
              </a:ext>
            </a:extLst>
          </p:cNvPr>
          <p:cNvSpPr txBox="1"/>
          <p:nvPr/>
        </p:nvSpPr>
        <p:spPr>
          <a:xfrm>
            <a:off x="2961359" y="3121052"/>
            <a:ext cx="909892" cy="184666"/>
          </a:xfrm>
          <a:prstGeom prst="rect">
            <a:avLst/>
          </a:prstGeom>
          <a:solidFill>
            <a:srgbClr val="3979C5"/>
          </a:solidFill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>
                <a:solidFill>
                  <a:schemeClr val="bg1"/>
                </a:solidFill>
              </a:rPr>
              <a:t>Apply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B466AC3-D99E-F89B-8A4D-2BC813FF94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525"/>
          <a:stretch>
            <a:fillRect/>
          </a:stretch>
        </p:blipFill>
        <p:spPr>
          <a:xfrm>
            <a:off x="4179697" y="1742536"/>
            <a:ext cx="2715684" cy="139299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38EC30DE-20A0-A1E8-125B-2FABC0AE059F}"/>
              </a:ext>
            </a:extLst>
          </p:cNvPr>
          <p:cNvSpPr txBox="1"/>
          <p:nvPr/>
        </p:nvSpPr>
        <p:spPr>
          <a:xfrm>
            <a:off x="4179697" y="1437824"/>
            <a:ext cx="2716550" cy="230832"/>
          </a:xfrm>
          <a:prstGeom prst="rect">
            <a:avLst/>
          </a:prstGeom>
          <a:solidFill>
            <a:srgbClr val="E8EAF6"/>
          </a:solidFill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900" dirty="0"/>
              <a:t>Fertility, Marriage and Divorce Trend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20728EC-12CB-B306-EB1E-AC2FBDD4E895}"/>
              </a:ext>
            </a:extLst>
          </p:cNvPr>
          <p:cNvSpPr/>
          <p:nvPr/>
        </p:nvSpPr>
        <p:spPr>
          <a:xfrm>
            <a:off x="2670774" y="2067483"/>
            <a:ext cx="1458403" cy="1521106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A7A3BAAC-E116-AD0A-D72F-B4780FB1F5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3487" y="1827128"/>
            <a:ext cx="1286679" cy="285752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83D342D9-8CFF-2A34-36C5-C9F5D120D6CA}"/>
              </a:ext>
            </a:extLst>
          </p:cNvPr>
          <p:cNvSpPr txBox="1"/>
          <p:nvPr/>
        </p:nvSpPr>
        <p:spPr>
          <a:xfrm>
            <a:off x="2700847" y="3942356"/>
            <a:ext cx="2716550" cy="230832"/>
          </a:xfrm>
          <a:prstGeom prst="rect">
            <a:avLst/>
          </a:prstGeom>
          <a:solidFill>
            <a:srgbClr val="E8EAF6"/>
          </a:solidFill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900" dirty="0"/>
              <a:t>Age-band Fertility Rates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FDD1F467-F7BF-FE2F-35CD-B86FA409872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598"/>
          <a:stretch>
            <a:fillRect/>
          </a:stretch>
        </p:blipFill>
        <p:spPr>
          <a:xfrm>
            <a:off x="2772442" y="4179810"/>
            <a:ext cx="2035411" cy="1711843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832AECDD-9C51-FE71-F770-60AE7F50BB5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5903"/>
          <a:stretch>
            <a:fillRect/>
          </a:stretch>
        </p:blipFill>
        <p:spPr>
          <a:xfrm>
            <a:off x="4794777" y="4179811"/>
            <a:ext cx="2100604" cy="1718464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84025FEC-1174-8BB6-EA4B-759F2CB03D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8831" y="3156885"/>
            <a:ext cx="2716550" cy="565586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F44AE3EE-C560-3161-0BAB-DBBD5AB59D5E}"/>
              </a:ext>
            </a:extLst>
          </p:cNvPr>
          <p:cNvSpPr txBox="1"/>
          <p:nvPr/>
        </p:nvSpPr>
        <p:spPr>
          <a:xfrm>
            <a:off x="4243632" y="1081352"/>
            <a:ext cx="2605742" cy="136587"/>
          </a:xfrm>
          <a:prstGeom prst="rect">
            <a:avLst/>
          </a:prstGeom>
          <a:solidFill>
            <a:srgbClr val="FBF8FC"/>
          </a:solidFill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endParaRPr lang="en-US" sz="75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1F46D7-C68F-1C6B-9A14-51FE9CF9900D}"/>
              </a:ext>
            </a:extLst>
          </p:cNvPr>
          <p:cNvSpPr txBox="1"/>
          <p:nvPr/>
        </p:nvSpPr>
        <p:spPr>
          <a:xfrm>
            <a:off x="2670774" y="6226091"/>
            <a:ext cx="4339626" cy="369332"/>
          </a:xfrm>
          <a:prstGeom prst="rect">
            <a:avLst/>
          </a:prstGeom>
          <a:solidFill>
            <a:srgbClr val="FBF8FC"/>
          </a:solidFill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900" dirty="0"/>
              <a:t>The total fertility rate in Singapore has declined from xxx children per woman in Year xxx to xxx in Year xxx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7B2E589-6A6E-895D-6EF8-FD8F62DAD62F}"/>
              </a:ext>
            </a:extLst>
          </p:cNvPr>
          <p:cNvSpPr txBox="1"/>
          <p:nvPr/>
        </p:nvSpPr>
        <p:spPr>
          <a:xfrm>
            <a:off x="4826478" y="906301"/>
            <a:ext cx="1119997" cy="101171"/>
          </a:xfrm>
          <a:prstGeom prst="rect">
            <a:avLst/>
          </a:prstGeom>
          <a:solidFill>
            <a:srgbClr val="FBF8FC"/>
          </a:solidFill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endParaRPr lang="en-US" sz="750" b="1" dirty="0"/>
          </a:p>
        </p:txBody>
      </p:sp>
    </p:spTree>
    <p:extLst>
      <p:ext uri="{BB962C8B-B14F-4D97-AF65-F5344CB8AC3E}">
        <p14:creationId xmlns:p14="http://schemas.microsoft.com/office/powerpoint/2010/main" val="4199207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F566D-6B7E-53AE-7F32-A8899B97F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3BE7AD8-C17C-652F-4D14-2F6410D61768}"/>
              </a:ext>
            </a:extLst>
          </p:cNvPr>
          <p:cNvSpPr/>
          <p:nvPr/>
        </p:nvSpPr>
        <p:spPr>
          <a:xfrm>
            <a:off x="2443942" y="59062"/>
            <a:ext cx="4746567" cy="6537537"/>
          </a:xfrm>
          <a:prstGeom prst="rect">
            <a:avLst/>
          </a:prstGeom>
          <a:solidFill>
            <a:srgbClr val="FBF8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solidFill>
                  <a:schemeClr val="tx1"/>
                </a:solidFill>
              </a:rPr>
              <a:t>Home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680A755D-5626-F5DC-0061-FA725CDCF396}"/>
              </a:ext>
            </a:extLst>
          </p:cNvPr>
          <p:cNvSpPr/>
          <p:nvPr/>
        </p:nvSpPr>
        <p:spPr>
          <a:xfrm>
            <a:off x="2532759" y="141316"/>
            <a:ext cx="4576845" cy="6455283"/>
          </a:xfrm>
          <a:prstGeom prst="roundRect">
            <a:avLst>
              <a:gd name="adj" fmla="val 1774"/>
            </a:avLst>
          </a:prstGeom>
          <a:solidFill>
            <a:srgbClr val="E9EA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50" b="1" u="sng" dirty="0">
              <a:solidFill>
                <a:schemeClr val="tx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26B1DD8-7003-65D5-2515-6090831E069A}"/>
              </a:ext>
            </a:extLst>
          </p:cNvPr>
          <p:cNvSpPr/>
          <p:nvPr/>
        </p:nvSpPr>
        <p:spPr>
          <a:xfrm>
            <a:off x="2644516" y="271851"/>
            <a:ext cx="1532469" cy="185059"/>
          </a:xfrm>
          <a:prstGeom prst="roundRect">
            <a:avLst>
              <a:gd name="adj" fmla="val 8745"/>
            </a:avLst>
          </a:prstGeom>
          <a:solidFill>
            <a:srgbClr val="EEECF5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dirty="0">
                <a:solidFill>
                  <a:schemeClr val="tx1"/>
                </a:solidFill>
              </a:rPr>
              <a:t>Correlation Specification 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1EAC523-193D-02D9-C3B8-34B263C3B473}"/>
              </a:ext>
            </a:extLst>
          </p:cNvPr>
          <p:cNvSpPr/>
          <p:nvPr/>
        </p:nvSpPr>
        <p:spPr>
          <a:xfrm>
            <a:off x="2638834" y="456909"/>
            <a:ext cx="1532134" cy="856325"/>
          </a:xfrm>
          <a:prstGeom prst="roundRect">
            <a:avLst>
              <a:gd name="adj" fmla="val 1979"/>
            </a:avLst>
          </a:prstGeom>
          <a:solidFill>
            <a:srgbClr val="FBF8FB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600" b="1" u="sng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43289D-4E0B-989B-1F7D-2A8CD5943ED0}"/>
              </a:ext>
            </a:extLst>
          </p:cNvPr>
          <p:cNvSpPr txBox="1"/>
          <p:nvPr/>
        </p:nvSpPr>
        <p:spPr>
          <a:xfrm>
            <a:off x="2644516" y="557060"/>
            <a:ext cx="132060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chemeClr val="tx1"/>
                </a:solidFill>
              </a:rPr>
              <a:t>Select Year Range   </a:t>
            </a:r>
            <a:endParaRPr lang="en-US" sz="800" b="1" u="sng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211D0D-5725-72AC-E449-8C6A4E7F46E4}"/>
              </a:ext>
            </a:extLst>
          </p:cNvPr>
          <p:cNvSpPr txBox="1"/>
          <p:nvPr/>
        </p:nvSpPr>
        <p:spPr>
          <a:xfrm>
            <a:off x="2670337" y="788286"/>
            <a:ext cx="1287724" cy="338554"/>
          </a:xfrm>
          <a:prstGeom prst="rect">
            <a:avLst/>
          </a:prstGeom>
          <a:solidFill>
            <a:srgbClr val="FCFAFC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800" b="1" dirty="0"/>
              <a:t>Use slider to let user filter (</a:t>
            </a:r>
            <a:r>
              <a:rPr lang="en-US" sz="800" b="1" dirty="0" err="1"/>
              <a:t>sliderInput</a:t>
            </a:r>
            <a:r>
              <a:rPr lang="en-US" sz="800" b="1" dirty="0"/>
              <a:t>())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C6198B9-114C-6335-F05D-EC636AEC8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6038" y="422851"/>
            <a:ext cx="2412569" cy="194388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A2098BF-8A64-E532-E4F9-588AC04C7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0061" y="4533078"/>
            <a:ext cx="4162578" cy="186151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1BD9C84-B1D3-B9E0-D9CB-ACA010FD6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0062" y="2560353"/>
            <a:ext cx="4108544" cy="1719220"/>
          </a:xfrm>
          <a:prstGeom prst="rect">
            <a:avLst/>
          </a:prstGeom>
        </p:spPr>
      </p:pic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220DFB6-29FC-71B0-D38E-F870F8F5AF9C}"/>
              </a:ext>
            </a:extLst>
          </p:cNvPr>
          <p:cNvSpPr/>
          <p:nvPr/>
        </p:nvSpPr>
        <p:spPr>
          <a:xfrm>
            <a:off x="4425168" y="252993"/>
            <a:ext cx="2436252" cy="152423"/>
          </a:xfrm>
          <a:prstGeom prst="roundRect">
            <a:avLst>
              <a:gd name="adj" fmla="val 8745"/>
            </a:avLst>
          </a:prstGeom>
          <a:solidFill>
            <a:srgbClr val="EEECF5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SG" sz="7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Clustered Correlation Plot of TFR, Marriage and Divorce</a:t>
            </a: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DCE12EA3-7B0F-2F26-B9B4-0312EBC2EA82}"/>
              </a:ext>
            </a:extLst>
          </p:cNvPr>
          <p:cNvSpPr/>
          <p:nvPr/>
        </p:nvSpPr>
        <p:spPr>
          <a:xfrm>
            <a:off x="2749428" y="2480926"/>
            <a:ext cx="4148878" cy="152423"/>
          </a:xfrm>
          <a:prstGeom prst="roundRect">
            <a:avLst>
              <a:gd name="adj" fmla="val 8745"/>
            </a:avLst>
          </a:prstGeom>
          <a:solidFill>
            <a:srgbClr val="EEECF5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SG" sz="7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Hierarchical Clustering Dendrogram of Years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B59DCDC-9E45-A762-35D8-3C550B8EEA47}"/>
              </a:ext>
            </a:extLst>
          </p:cNvPr>
          <p:cNvSpPr/>
          <p:nvPr/>
        </p:nvSpPr>
        <p:spPr>
          <a:xfrm>
            <a:off x="2760061" y="4348613"/>
            <a:ext cx="4162578" cy="184465"/>
          </a:xfrm>
          <a:prstGeom prst="roundRect">
            <a:avLst>
              <a:gd name="adj" fmla="val 8745"/>
            </a:avLst>
          </a:prstGeom>
          <a:solidFill>
            <a:srgbClr val="EEECF5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SG" sz="7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Rolling Correlation of TFR with Marriage and Divorce</a:t>
            </a:r>
          </a:p>
        </p:txBody>
      </p:sp>
    </p:spTree>
    <p:extLst>
      <p:ext uri="{BB962C8B-B14F-4D97-AF65-F5344CB8AC3E}">
        <p14:creationId xmlns:p14="http://schemas.microsoft.com/office/powerpoint/2010/main" val="2678030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9A7FB4E-9385-DA3D-0F83-C4ABD91E72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03" b="13035"/>
          <a:stretch>
            <a:fillRect/>
          </a:stretch>
        </p:blipFill>
        <p:spPr>
          <a:xfrm>
            <a:off x="1831676" y="65991"/>
            <a:ext cx="5270739" cy="640879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A3AF5AB-38B5-CB07-F741-B09CCB892207}"/>
              </a:ext>
            </a:extLst>
          </p:cNvPr>
          <p:cNvSpPr/>
          <p:nvPr/>
        </p:nvSpPr>
        <p:spPr>
          <a:xfrm>
            <a:off x="6119004" y="1529068"/>
            <a:ext cx="583720" cy="173211"/>
          </a:xfrm>
          <a:prstGeom prst="rect">
            <a:avLst/>
          </a:prstGeom>
          <a:solidFill>
            <a:srgbClr val="EFEE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900" dirty="0">
                <a:solidFill>
                  <a:schemeClr val="tx1"/>
                </a:solidFill>
              </a:rPr>
              <a:t>Coeff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183CF7-A2BC-D66A-D92E-B3D67CA84439}"/>
              </a:ext>
            </a:extLst>
          </p:cNvPr>
          <p:cNvSpPr/>
          <p:nvPr/>
        </p:nvSpPr>
        <p:spPr>
          <a:xfrm>
            <a:off x="3883325" y="1783681"/>
            <a:ext cx="182592" cy="131383"/>
          </a:xfrm>
          <a:prstGeom prst="rect">
            <a:avLst/>
          </a:prstGeom>
          <a:solidFill>
            <a:srgbClr val="F9F7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9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EA482F-0805-BD9E-F515-067A661E1627}"/>
              </a:ext>
            </a:extLst>
          </p:cNvPr>
          <p:cNvSpPr/>
          <p:nvPr/>
        </p:nvSpPr>
        <p:spPr>
          <a:xfrm>
            <a:off x="5424578" y="2191181"/>
            <a:ext cx="247291" cy="131384"/>
          </a:xfrm>
          <a:prstGeom prst="rect">
            <a:avLst/>
          </a:prstGeom>
          <a:solidFill>
            <a:srgbClr val="EFEE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9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41DC37-A421-2E91-EFDB-F84502BFEFA5}"/>
              </a:ext>
            </a:extLst>
          </p:cNvPr>
          <p:cNvSpPr/>
          <p:nvPr/>
        </p:nvSpPr>
        <p:spPr>
          <a:xfrm>
            <a:off x="5496465" y="2403894"/>
            <a:ext cx="182592" cy="131383"/>
          </a:xfrm>
          <a:prstGeom prst="rect">
            <a:avLst/>
          </a:prstGeom>
          <a:solidFill>
            <a:srgbClr val="F9F7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9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FFF527-192E-AF77-86B0-85F0C0BA4CED}"/>
              </a:ext>
            </a:extLst>
          </p:cNvPr>
          <p:cNvSpPr/>
          <p:nvPr/>
        </p:nvSpPr>
        <p:spPr>
          <a:xfrm>
            <a:off x="5751198" y="2214184"/>
            <a:ext cx="247291" cy="131384"/>
          </a:xfrm>
          <a:prstGeom prst="rect">
            <a:avLst/>
          </a:prstGeom>
          <a:solidFill>
            <a:srgbClr val="EFEE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9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F48DF2-7C0F-BB15-6C04-7F876D515C19}"/>
              </a:ext>
            </a:extLst>
          </p:cNvPr>
          <p:cNvSpPr/>
          <p:nvPr/>
        </p:nvSpPr>
        <p:spPr>
          <a:xfrm>
            <a:off x="3766868" y="1474998"/>
            <a:ext cx="3030747" cy="1170436"/>
          </a:xfrm>
          <a:prstGeom prst="rect">
            <a:avLst/>
          </a:prstGeom>
          <a:solidFill>
            <a:srgbClr val="FC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900" dirty="0">
              <a:solidFill>
                <a:schemeClr val="tx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B221038-58EC-EDE0-2A07-90C7240AA1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1247"/>
          <a:stretch>
            <a:fillRect/>
          </a:stretch>
        </p:blipFill>
        <p:spPr>
          <a:xfrm>
            <a:off x="3811692" y="1529069"/>
            <a:ext cx="2985923" cy="34304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BCAA0BC-6B5E-C6DF-67D9-C799ED5308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91" t="78188"/>
          <a:stretch>
            <a:fillRect/>
          </a:stretch>
        </p:blipFill>
        <p:spPr>
          <a:xfrm>
            <a:off x="3839898" y="1877540"/>
            <a:ext cx="2957718" cy="2462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42D3511-B95C-E34B-27BE-3AD5E9E9835D}"/>
              </a:ext>
            </a:extLst>
          </p:cNvPr>
          <p:cNvSpPr txBox="1"/>
          <p:nvPr/>
        </p:nvSpPr>
        <p:spPr>
          <a:xfrm>
            <a:off x="4297965" y="2237778"/>
            <a:ext cx="2214980" cy="32316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750" b="1" dirty="0"/>
              <a:t>table for model regression result (</a:t>
            </a:r>
            <a:r>
              <a:rPr lang="en-SG" sz="750" b="1" dirty="0" err="1"/>
              <a:t>tableOutput</a:t>
            </a:r>
            <a:r>
              <a:rPr lang="en-SG" sz="750" b="1" dirty="0"/>
              <a:t>())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3878EA-B6B4-F074-A6E9-FC453406F1E2}"/>
              </a:ext>
            </a:extLst>
          </p:cNvPr>
          <p:cNvSpPr txBox="1"/>
          <p:nvPr/>
        </p:nvSpPr>
        <p:spPr>
          <a:xfrm>
            <a:off x="4217832" y="3203427"/>
            <a:ext cx="1625126" cy="66941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750" b="1" dirty="0"/>
              <a:t>Updates according to selected regression specification. Eg: If one predictor is selected, one model result is shown. (</a:t>
            </a:r>
            <a:r>
              <a:rPr lang="en-US" sz="750" b="1" dirty="0" err="1"/>
              <a:t>plotOutput</a:t>
            </a:r>
            <a:r>
              <a:rPr lang="en-US" sz="750" b="1" dirty="0"/>
              <a:t>())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40D582-904C-0BC9-BF10-3CA492799264}"/>
              </a:ext>
            </a:extLst>
          </p:cNvPr>
          <p:cNvSpPr txBox="1"/>
          <p:nvPr/>
        </p:nvSpPr>
        <p:spPr>
          <a:xfrm>
            <a:off x="3323176" y="4177329"/>
            <a:ext cx="3506580" cy="43858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750" b="1" dirty="0"/>
              <a:t>Update based on the selected predictors and lag values. If one predictor is selected, one scatterplot is shown. If both predictors are selected, two scatterplots are displayed side by side. (</a:t>
            </a:r>
            <a:r>
              <a:rPr lang="en-US" sz="750" b="1" dirty="0" err="1"/>
              <a:t>plotOutput</a:t>
            </a:r>
            <a:r>
              <a:rPr lang="en-US" sz="750" b="1" dirty="0"/>
              <a:t>())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4A5516B-6D2F-C578-447C-2A9A5BFC2B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4040" y="4707947"/>
            <a:ext cx="2257442" cy="126153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9447299-2B6B-2081-654F-A28366C444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5926" y="4733026"/>
            <a:ext cx="2266967" cy="126153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D3EA4350-6F56-CB4E-AE9D-CF7034B0EE3A}"/>
              </a:ext>
            </a:extLst>
          </p:cNvPr>
          <p:cNvSpPr txBox="1"/>
          <p:nvPr/>
        </p:nvSpPr>
        <p:spPr>
          <a:xfrm>
            <a:off x="2120167" y="1908317"/>
            <a:ext cx="1483253" cy="215444"/>
          </a:xfrm>
          <a:prstGeom prst="rect">
            <a:avLst/>
          </a:prstGeom>
          <a:solidFill>
            <a:srgbClr val="FCFAFC"/>
          </a:solidFill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endParaRPr lang="en-US" sz="8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3439E9-A237-6084-ED2F-5C813399EA0D}"/>
              </a:ext>
            </a:extLst>
          </p:cNvPr>
          <p:cNvSpPr txBox="1"/>
          <p:nvPr/>
        </p:nvSpPr>
        <p:spPr>
          <a:xfrm>
            <a:off x="2128337" y="1706784"/>
            <a:ext cx="1483253" cy="338554"/>
          </a:xfrm>
          <a:prstGeom prst="rect">
            <a:avLst/>
          </a:prstGeom>
          <a:solidFill>
            <a:srgbClr val="FCFAFC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800" b="1" dirty="0"/>
              <a:t>Use slider to let user filter (</a:t>
            </a:r>
            <a:r>
              <a:rPr lang="en-US" sz="800" b="1" dirty="0" err="1"/>
              <a:t>sliderInput</a:t>
            </a:r>
            <a:r>
              <a:rPr lang="en-US" sz="800" b="1" dirty="0"/>
              <a:t>())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FD7D2A1-1F31-43C6-C135-E521BB6884D7}"/>
              </a:ext>
            </a:extLst>
          </p:cNvPr>
          <p:cNvSpPr txBox="1"/>
          <p:nvPr/>
        </p:nvSpPr>
        <p:spPr>
          <a:xfrm>
            <a:off x="2160443" y="2273057"/>
            <a:ext cx="1483253" cy="215444"/>
          </a:xfrm>
          <a:prstGeom prst="rect">
            <a:avLst/>
          </a:prstGeom>
          <a:solidFill>
            <a:srgbClr val="FCFAFC"/>
          </a:solidFill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endParaRPr lang="en-US" sz="8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5E70BC-322C-546E-C735-5C91884ADE5F}"/>
              </a:ext>
            </a:extLst>
          </p:cNvPr>
          <p:cNvSpPr txBox="1"/>
          <p:nvPr/>
        </p:nvSpPr>
        <p:spPr>
          <a:xfrm>
            <a:off x="2128338" y="2327528"/>
            <a:ext cx="1483254" cy="338554"/>
          </a:xfrm>
          <a:prstGeom prst="rect">
            <a:avLst/>
          </a:prstGeom>
          <a:solidFill>
            <a:srgbClr val="FCFAFC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800" b="1" dirty="0"/>
              <a:t>Use slider to let user filter (</a:t>
            </a:r>
            <a:r>
              <a:rPr lang="en-US" sz="800" b="1" dirty="0" err="1"/>
              <a:t>sliderInput</a:t>
            </a:r>
            <a:r>
              <a:rPr lang="en-US" sz="800" b="1" dirty="0"/>
              <a:t>())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83BC143-FB2B-D6B2-1BEF-B4C6B8EE2BF0}"/>
              </a:ext>
            </a:extLst>
          </p:cNvPr>
          <p:cNvSpPr txBox="1"/>
          <p:nvPr/>
        </p:nvSpPr>
        <p:spPr>
          <a:xfrm>
            <a:off x="2128337" y="825241"/>
            <a:ext cx="1138199" cy="669414"/>
          </a:xfrm>
          <a:prstGeom prst="rect">
            <a:avLst/>
          </a:prstGeom>
          <a:solidFill>
            <a:srgbClr val="FCFAFC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750" b="1" dirty="0"/>
              <a:t>Use radio buttons to let users filter between Marriage, Divorce, or both (</a:t>
            </a:r>
            <a:r>
              <a:rPr lang="en-US" sz="750" b="1" dirty="0" err="1"/>
              <a:t>radioButtons</a:t>
            </a:r>
            <a:r>
              <a:rPr lang="en-US" sz="750" b="1" dirty="0"/>
              <a:t>())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B1AD4AB-BE5D-E630-CDAF-835684ECB3EB}"/>
              </a:ext>
            </a:extLst>
          </p:cNvPr>
          <p:cNvSpPr txBox="1"/>
          <p:nvPr/>
        </p:nvSpPr>
        <p:spPr>
          <a:xfrm>
            <a:off x="2356644" y="2720472"/>
            <a:ext cx="909892" cy="207749"/>
          </a:xfrm>
          <a:prstGeom prst="rect">
            <a:avLst/>
          </a:prstGeom>
          <a:solidFill>
            <a:srgbClr val="3979C5"/>
          </a:solidFill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750" b="1" dirty="0">
                <a:solidFill>
                  <a:schemeClr val="bg1"/>
                </a:solidFill>
              </a:rPr>
              <a:t>Apply</a:t>
            </a:r>
          </a:p>
        </p:txBody>
      </p:sp>
    </p:spTree>
    <p:extLst>
      <p:ext uri="{BB962C8B-B14F-4D97-AF65-F5344CB8AC3E}">
        <p14:creationId xmlns:p14="http://schemas.microsoft.com/office/powerpoint/2010/main" val="4070546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317</Words>
  <Application>Microsoft Office PowerPoint</Application>
  <PresentationFormat>Widescreen</PresentationFormat>
  <Paragraphs>42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-webkit-standard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TEONG Sze Ching</dc:creator>
  <cp:lastModifiedBy>TEONG Sze Ching</cp:lastModifiedBy>
  <cp:revision>29</cp:revision>
  <dcterms:created xsi:type="dcterms:W3CDTF">2026-03-08T07:16:32Z</dcterms:created>
  <dcterms:modified xsi:type="dcterms:W3CDTF">2026-03-10T12:32:40Z</dcterms:modified>
</cp:coreProperties>
</file>